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09d1cdb616_4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09d1cdb616_4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409d1cdb616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409d1cdb616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409d604a18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409d604a18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1f43154877de8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1f43154877de8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4289473b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84289473b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b9fd9704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8b9fd9704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84289473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84289473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8b9fd9704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8b9fd9704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81f43154877de8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b81f43154877de8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b83105e64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fb83105e64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b83105e64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b83105e64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b83105e64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fb83105e64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b83105e6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b83105e6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h392254940cd34138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h392254940cd34138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b83105e6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fb83105e6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8b9fd9704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8b9fd9704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81f43154877de8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b81f43154877de8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84289473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f84289473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81f43154877de8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b81f43154877de8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b83105e6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fb83105e6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605fac65608446b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605fac65608446b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605fac65608446b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605fac65608446b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605fac65608446b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605fac65608446b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409ec197301_6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409ec197301_6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409ec197301_6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409ec197301_6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409ec197301_6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409ec197301_6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fb83105e6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fb83105e6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40ade0b17d1b114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40ade0b17d1b114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40ade0b17d1b114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40ade0b17d1b114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f3acdb63a9b9a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f3acdb63a9b9a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f3acdb63a9b9ae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ef3acdb63a9b9ae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2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128679" y="1666075"/>
            <a:ext cx="6375900" cy="73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Bandgap Reference (BGR)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682825" y="3674875"/>
            <a:ext cx="1746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Presented by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Madhukar saini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42875" y="236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 Gap Reference (BGR)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16488" l="0" r="0" t="20413"/>
          <a:stretch/>
        </p:blipFill>
        <p:spPr>
          <a:xfrm>
            <a:off x="1224825" y="1749800"/>
            <a:ext cx="5238499" cy="22191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637875" y="929125"/>
            <a:ext cx="7734000" cy="6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BGR produces constant voltage </a:t>
            </a:r>
            <a:r>
              <a:rPr lang="en" sz="1200">
                <a:solidFill>
                  <a:schemeClr val="dk1"/>
                </a:solidFill>
              </a:rPr>
              <a:t>independent</a:t>
            </a:r>
            <a:r>
              <a:rPr lang="en" sz="1200">
                <a:solidFill>
                  <a:schemeClr val="dk1"/>
                </a:solidFill>
              </a:rPr>
              <a:t> of Process, Voltage and Temperature (PVT)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924625" y="4104475"/>
            <a:ext cx="6593700" cy="396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Note : Any slope of PTAT + any slope of CTAT is not equal to constant V</a:t>
            </a:r>
            <a:r>
              <a:rPr b="1" baseline="-25000" lang="en" sz="1200">
                <a:solidFill>
                  <a:schemeClr val="dk1"/>
                </a:solidFill>
              </a:rPr>
              <a:t>REF</a:t>
            </a:r>
            <a:endParaRPr b="1" baseline="-25000"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623400" y="421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BGR Circuit implementation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513" y="1249450"/>
            <a:ext cx="7236977" cy="298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160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PTAT, CTAT and V</a:t>
            </a:r>
            <a:r>
              <a:rPr baseline="-25000" lang="en"/>
              <a:t>REF</a:t>
            </a:r>
            <a:r>
              <a:rPr lang="en"/>
              <a:t> on the same branch</a:t>
            </a:r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 rotWithShape="1">
          <a:blip r:embed="rId3">
            <a:alphaModFix/>
          </a:blip>
          <a:srcRect b="0" l="0" r="0" t="9519"/>
          <a:stretch/>
        </p:blipFill>
        <p:spPr>
          <a:xfrm>
            <a:off x="637850" y="825100"/>
            <a:ext cx="7295676" cy="371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29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R1 and R2</a:t>
            </a:r>
            <a:endParaRPr/>
          </a:p>
        </p:txBody>
      </p:sp>
      <p:cxnSp>
        <p:nvCxnSpPr>
          <p:cNvPr id="81" name="Google Shape;81;p17"/>
          <p:cNvCxnSpPr/>
          <p:nvPr/>
        </p:nvCxnSpPr>
        <p:spPr>
          <a:xfrm>
            <a:off x="4066750" y="1101575"/>
            <a:ext cx="8400" cy="3561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2" name="Google Shape;8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5475" y="965112"/>
            <a:ext cx="3558877" cy="2772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7550" y="954700"/>
            <a:ext cx="3844886" cy="356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623400" y="433475"/>
            <a:ext cx="81168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the BJT </a:t>
            </a:r>
            <a:r>
              <a:rPr lang="en"/>
              <a:t>implemented</a:t>
            </a:r>
            <a:r>
              <a:rPr lang="en"/>
              <a:t> in IC’s in the place of </a:t>
            </a:r>
            <a:r>
              <a:rPr lang="en"/>
              <a:t>Diodes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980275" y="1350450"/>
            <a:ext cx="7242300" cy="26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many CMOS processes, a suitable parasitic vertical PNP or substrate-related BJT is available and can be used as the junction element in a bandgap reference. A dedicated standalone diode with equally convenient area scaling, matching, and biasing may not be available.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such a process, using the available BJT is often the practical choice.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Bottom line:</a:t>
            </a:r>
            <a:r>
              <a:rPr lang="en"/>
              <a:t> We do not replace a diode because it cannot produce \(V_{BE}\)-like CTAT behavior or a PTAT difference. We use a BJT because its base-emitter junction, collector-current control, and available device structures often make the required bandgap circuit easier to implement and characterize.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91375" y="16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CTAT and PTAT slopes (in the tool)</a:t>
            </a:r>
            <a:endParaRPr/>
          </a:p>
        </p:txBody>
      </p:sp>
      <p:pic>
        <p:nvPicPr>
          <p:cNvPr id="95" name="Google Shape;9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925" y="991975"/>
            <a:ext cx="4067076" cy="279410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/>
          <p:nvPr/>
        </p:nvSpPr>
        <p:spPr>
          <a:xfrm>
            <a:off x="557725" y="3930650"/>
            <a:ext cx="8011800" cy="7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From the simulation </a:t>
            </a:r>
            <a:r>
              <a:rPr lang="en" sz="1200">
                <a:solidFill>
                  <a:schemeClr val="dk1"/>
                </a:solidFill>
              </a:rPr>
              <a:t>for</a:t>
            </a:r>
            <a:r>
              <a:rPr lang="en" sz="1200">
                <a:solidFill>
                  <a:schemeClr val="dk1"/>
                </a:solidFill>
              </a:rPr>
              <a:t> the biased current(I0) 5uA, the slopes of CTAT is -1.74mV/C and PTAT(N=2) is </a:t>
            </a:r>
            <a:r>
              <a:rPr lang="en" sz="1200">
                <a:solidFill>
                  <a:schemeClr val="dk1"/>
                </a:solidFill>
              </a:rPr>
              <a:t>60.72uV/C </a:t>
            </a:r>
            <a:r>
              <a:rPr lang="en" sz="1200">
                <a:solidFill>
                  <a:schemeClr val="dk1"/>
                </a:solidFill>
              </a:rPr>
              <a:t>at room temperature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97" name="Google Shape;9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625" y="991975"/>
            <a:ext cx="4003501" cy="279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title"/>
          </p:nvPr>
        </p:nvSpPr>
        <p:spPr>
          <a:xfrm>
            <a:off x="476300" y="210175"/>
            <a:ext cx="85206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V</a:t>
            </a:r>
            <a:r>
              <a:rPr baseline="-25000" lang="en"/>
              <a:t>D1</a:t>
            </a:r>
            <a:r>
              <a:rPr lang="en"/>
              <a:t> - V</a:t>
            </a:r>
            <a:r>
              <a:rPr baseline="-25000" lang="en"/>
              <a:t>D2</a:t>
            </a:r>
            <a:r>
              <a:rPr lang="en"/>
              <a:t> and Current same in both the ends</a:t>
            </a:r>
            <a:endParaRPr/>
          </a:p>
        </p:txBody>
      </p:sp>
      <p:sp>
        <p:nvSpPr>
          <p:cNvPr id="103" name="Google Shape;103;p20"/>
          <p:cNvSpPr txBox="1"/>
          <p:nvPr/>
        </p:nvSpPr>
        <p:spPr>
          <a:xfrm>
            <a:off x="259500" y="1102500"/>
            <a:ext cx="8286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make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D1</a:t>
            </a:r>
            <a:r>
              <a:rPr lang="en" sz="1200">
                <a:solidFill>
                  <a:schemeClr val="dk1"/>
                </a:solidFill>
              </a:rPr>
              <a:t> - V</a:t>
            </a:r>
            <a:r>
              <a:rPr baseline="-25000" lang="en" sz="1200">
                <a:solidFill>
                  <a:schemeClr val="dk1"/>
                </a:solidFill>
              </a:rPr>
              <a:t>D2</a:t>
            </a:r>
            <a:r>
              <a:rPr lang="en" sz="1200">
                <a:solidFill>
                  <a:schemeClr val="dk1"/>
                </a:solidFill>
              </a:rPr>
              <a:t> we generally we go with i) Current Mirror based BGR, ii) OP-Amp based BGR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4" name="Google Shape;104;p20"/>
          <p:cNvSpPr txBox="1"/>
          <p:nvPr/>
        </p:nvSpPr>
        <p:spPr>
          <a:xfrm>
            <a:off x="754075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Current Mirror based BGR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5563488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Op-Amp based BGR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06" name="Google Shape;10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275" y="1994825"/>
            <a:ext cx="4299074" cy="2798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0"/>
          <p:cNvPicPr preferRelativeResize="0"/>
          <p:nvPr/>
        </p:nvPicPr>
        <p:blipFill rotWithShape="1">
          <a:blip r:embed="rId4">
            <a:alphaModFix/>
          </a:blip>
          <a:srcRect b="0" l="0" r="0" t="9494"/>
          <a:stretch/>
        </p:blipFill>
        <p:spPr>
          <a:xfrm>
            <a:off x="4490350" y="1994827"/>
            <a:ext cx="4506552" cy="2533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44850" y="19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Mirror based BGR</a:t>
            </a:r>
            <a:endParaRPr/>
          </a:p>
        </p:txBody>
      </p:sp>
      <p:sp>
        <p:nvSpPr>
          <p:cNvPr id="113" name="Google Shape;113;p21"/>
          <p:cNvSpPr/>
          <p:nvPr/>
        </p:nvSpPr>
        <p:spPr>
          <a:xfrm>
            <a:off x="6305993" y="1995212"/>
            <a:ext cx="421550" cy="1153100"/>
          </a:xfrm>
          <a:custGeom>
            <a:rect b="b" l="l" r="r" t="t"/>
            <a:pathLst>
              <a:path extrusionOk="0" h="46124" w="16862">
                <a:moveTo>
                  <a:pt x="13536" y="2466"/>
                </a:moveTo>
                <a:cubicBezTo>
                  <a:pt x="10728" y="1342"/>
                  <a:pt x="6748" y="-1296"/>
                  <a:pt x="4609" y="843"/>
                </a:cubicBezTo>
                <a:cubicBezTo>
                  <a:pt x="536" y="4916"/>
                  <a:pt x="3166" y="12299"/>
                  <a:pt x="1768" y="17886"/>
                </a:cubicBezTo>
                <a:cubicBezTo>
                  <a:pt x="-543" y="27125"/>
                  <a:pt x="-1791" y="43580"/>
                  <a:pt x="7449" y="45886"/>
                </a:cubicBezTo>
                <a:cubicBezTo>
                  <a:pt x="15102" y="47796"/>
                  <a:pt x="16377" y="31860"/>
                  <a:pt x="16377" y="23973"/>
                </a:cubicBezTo>
                <a:cubicBezTo>
                  <a:pt x="16377" y="16358"/>
                  <a:pt x="18318" y="5059"/>
                  <a:pt x="11507" y="1654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14" name="Google Shape;114;p21"/>
          <p:cNvSpPr txBox="1"/>
          <p:nvPr/>
        </p:nvSpPr>
        <p:spPr>
          <a:xfrm>
            <a:off x="7735950" y="4456050"/>
            <a:ext cx="132600" cy="182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5" name="Google Shape;11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850" y="806250"/>
            <a:ext cx="4540525" cy="37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1"/>
          <p:cNvSpPr/>
          <p:nvPr/>
        </p:nvSpPr>
        <p:spPr>
          <a:xfrm>
            <a:off x="4261334" y="1993275"/>
            <a:ext cx="692325" cy="1282400"/>
          </a:xfrm>
          <a:custGeom>
            <a:rect b="b" l="l" r="r" t="t"/>
            <a:pathLst>
              <a:path extrusionOk="0" h="51296" w="27693">
                <a:moveTo>
                  <a:pt x="16071" y="445"/>
                </a:moveTo>
                <a:cubicBezTo>
                  <a:pt x="-78" y="-4949"/>
                  <a:pt x="-7018" y="48336"/>
                  <a:pt x="9777" y="51134"/>
                </a:cubicBezTo>
                <a:cubicBezTo>
                  <a:pt x="17557" y="52430"/>
                  <a:pt x="24759" y="42221"/>
                  <a:pt x="26673" y="34569"/>
                </a:cubicBezTo>
                <a:cubicBezTo>
                  <a:pt x="29596" y="22880"/>
                  <a:pt x="26175" y="-3372"/>
                  <a:pt x="14746" y="445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17" name="Google Shape;117;p21"/>
          <p:cNvSpPr/>
          <p:nvPr/>
        </p:nvSpPr>
        <p:spPr>
          <a:xfrm>
            <a:off x="4721075" y="786850"/>
            <a:ext cx="1043625" cy="1234100"/>
          </a:xfrm>
          <a:custGeom>
            <a:rect b="b" l="l" r="r" t="t"/>
            <a:pathLst>
              <a:path extrusionOk="0" h="49364" w="41745">
                <a:moveTo>
                  <a:pt x="0" y="49364"/>
                </a:moveTo>
                <a:cubicBezTo>
                  <a:pt x="1473" y="34666"/>
                  <a:pt x="7349" y="18501"/>
                  <a:pt x="18885" y="9276"/>
                </a:cubicBezTo>
                <a:cubicBezTo>
                  <a:pt x="25308" y="4140"/>
                  <a:pt x="33943" y="2598"/>
                  <a:pt x="41745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18" name="Google Shape;118;p21"/>
          <p:cNvSpPr/>
          <p:nvPr/>
        </p:nvSpPr>
        <p:spPr>
          <a:xfrm>
            <a:off x="5657025" y="753725"/>
            <a:ext cx="158375" cy="107675"/>
          </a:xfrm>
          <a:custGeom>
            <a:rect b="b" l="l" r="r" t="t"/>
            <a:pathLst>
              <a:path extrusionOk="0" h="4307" w="6335">
                <a:moveTo>
                  <a:pt x="0" y="0"/>
                </a:moveTo>
                <a:cubicBezTo>
                  <a:pt x="1940" y="485"/>
                  <a:pt x="4363" y="-538"/>
                  <a:pt x="5963" y="662"/>
                </a:cubicBezTo>
                <a:cubicBezTo>
                  <a:pt x="7115" y="1526"/>
                  <a:pt x="5010" y="3851"/>
                  <a:pt x="3644" y="430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19" name="Google Shape;119;p21"/>
          <p:cNvSpPr txBox="1"/>
          <p:nvPr/>
        </p:nvSpPr>
        <p:spPr>
          <a:xfrm>
            <a:off x="5764700" y="571500"/>
            <a:ext cx="2915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Combinedly R2 that we discussed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5258650" y="1209950"/>
            <a:ext cx="3222000" cy="6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sizes of </a:t>
            </a:r>
            <a:r>
              <a:rPr lang="en" sz="1200">
                <a:solidFill>
                  <a:schemeClr val="dk1"/>
                </a:solidFill>
              </a:rPr>
              <a:t>Mosfets</a:t>
            </a:r>
            <a:r>
              <a:rPr lang="en" sz="1200">
                <a:solidFill>
                  <a:schemeClr val="dk1"/>
                </a:solidFill>
              </a:rPr>
              <a:t> are as </a:t>
            </a:r>
            <a:r>
              <a:rPr lang="en" sz="1200">
                <a:solidFill>
                  <a:schemeClr val="dk1"/>
                </a:solidFill>
              </a:rPr>
              <a:t>follows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58650" y="1936275"/>
            <a:ext cx="3373200" cy="100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1"/>
          <p:cNvSpPr txBox="1"/>
          <p:nvPr/>
        </p:nvSpPr>
        <p:spPr>
          <a:xfrm>
            <a:off x="5258650" y="3022300"/>
            <a:ext cx="29772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3.6038KΩ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R_x+R_y  = 93.6533KΩ+1.20127KΩ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(Current Mirror based BGR) 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075" y="811700"/>
            <a:ext cx="7893348" cy="33130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2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1.192V in tt_27C_2.5V corner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- Current Mirror based BGR</a:t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4829350" y="1054175"/>
            <a:ext cx="3375300" cy="3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During input ramp if gate of PMOS stays at VDD and NMOS stays at Ground, we will see startup problem. (i.e., I</a:t>
            </a:r>
            <a:r>
              <a:rPr baseline="-25000" lang="en" sz="1200">
                <a:solidFill>
                  <a:schemeClr val="dk1"/>
                </a:solidFill>
              </a:rPr>
              <a:t>0</a:t>
            </a:r>
            <a:r>
              <a:rPr lang="en" sz="1200">
                <a:solidFill>
                  <a:schemeClr val="dk1"/>
                </a:solidFill>
              </a:rPr>
              <a:t> on both side is zero)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overcome this problem we need a startup circuit, that should disturb zero current bias point, during the supply ramp.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Let's say  we have zero current in the beginning, that will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→ VDD,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→ zero and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→ VDD. So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willbe diode connected to VDD and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is OFF. When supply ramp ups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decreases and 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increase, making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ON and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 make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OFF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36" name="Google Shape;136;p23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423125" y="939650"/>
            <a:ext cx="4524549" cy="3537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/>
          <p:nvPr>
            <p:ph type="title"/>
          </p:nvPr>
        </p:nvSpPr>
        <p:spPr>
          <a:xfrm>
            <a:off x="311700" y="221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should be cared in startup</a:t>
            </a:r>
            <a:endParaRPr/>
          </a:p>
        </p:txBody>
      </p:sp>
      <p:sp>
        <p:nvSpPr>
          <p:cNvPr id="142" name="Google Shape;142;p24"/>
          <p:cNvSpPr txBox="1"/>
          <p:nvPr/>
        </p:nvSpPr>
        <p:spPr>
          <a:xfrm>
            <a:off x="6465250" y="1016925"/>
            <a:ext cx="2196900" cy="1252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should be adjusted such that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wont draw much current from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node, so that current through R</a:t>
            </a:r>
            <a:r>
              <a:rPr baseline="-25000" lang="en" sz="1200">
                <a:solidFill>
                  <a:schemeClr val="dk1"/>
                </a:solidFill>
              </a:rPr>
              <a:t>1 </a:t>
            </a:r>
            <a:r>
              <a:rPr lang="en" sz="1200">
                <a:solidFill>
                  <a:schemeClr val="dk1"/>
                </a:solidFill>
              </a:rPr>
              <a:t>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should be closely equal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808350" y="1016925"/>
            <a:ext cx="4524549" cy="35376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4" name="Google Shape;144;p24"/>
          <p:cNvCxnSpPr/>
          <p:nvPr/>
        </p:nvCxnSpPr>
        <p:spPr>
          <a:xfrm flipH="1" rot="10800000">
            <a:off x="1926200" y="1433000"/>
            <a:ext cx="4584000" cy="316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5" name="Google Shape;145;p24"/>
          <p:cNvCxnSpPr/>
          <p:nvPr/>
        </p:nvCxnSpPr>
        <p:spPr>
          <a:xfrm flipH="1" rot="10800000">
            <a:off x="4904025" y="1449300"/>
            <a:ext cx="1515000" cy="46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" name="Google Shape;146;p24"/>
          <p:cNvSpPr/>
          <p:nvPr/>
        </p:nvSpPr>
        <p:spPr>
          <a:xfrm>
            <a:off x="1536802" y="1597370"/>
            <a:ext cx="399800" cy="463575"/>
          </a:xfrm>
          <a:custGeom>
            <a:rect b="b" l="l" r="r" t="t"/>
            <a:pathLst>
              <a:path extrusionOk="0" h="18543" w="15992">
                <a:moveTo>
                  <a:pt x="15993" y="6073"/>
                </a:moveTo>
                <a:cubicBezTo>
                  <a:pt x="13475" y="2297"/>
                  <a:pt x="7558" y="-1372"/>
                  <a:pt x="3499" y="659"/>
                </a:cubicBezTo>
                <a:cubicBezTo>
                  <a:pt x="-986" y="2903"/>
                  <a:pt x="-759" y="11639"/>
                  <a:pt x="2249" y="15652"/>
                </a:cubicBezTo>
                <a:cubicBezTo>
                  <a:pt x="4193" y="18245"/>
                  <a:pt x="9536" y="19610"/>
                  <a:pt x="11828" y="17318"/>
                </a:cubicBezTo>
                <a:cubicBezTo>
                  <a:pt x="14566" y="14580"/>
                  <a:pt x="14743" y="9945"/>
                  <a:pt x="14743" y="6073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47" name="Google Shape;147;p24"/>
          <p:cNvSpPr/>
          <p:nvPr/>
        </p:nvSpPr>
        <p:spPr>
          <a:xfrm>
            <a:off x="4515882" y="1750015"/>
            <a:ext cx="456925" cy="577225"/>
          </a:xfrm>
          <a:custGeom>
            <a:rect b="b" l="l" r="r" t="t"/>
            <a:pathLst>
              <a:path extrusionOk="0" h="23089" w="18277">
                <a:moveTo>
                  <a:pt x="10528" y="384"/>
                </a:moveTo>
                <a:cubicBezTo>
                  <a:pt x="6311" y="-1727"/>
                  <a:pt x="-810" y="5339"/>
                  <a:pt x="116" y="9963"/>
                </a:cubicBezTo>
                <a:cubicBezTo>
                  <a:pt x="1311" y="15931"/>
                  <a:pt x="7123" y="24352"/>
                  <a:pt x="13027" y="22874"/>
                </a:cubicBezTo>
                <a:cubicBezTo>
                  <a:pt x="17584" y="21733"/>
                  <a:pt x="19353" y="13908"/>
                  <a:pt x="17608" y="9546"/>
                </a:cubicBezTo>
                <a:cubicBezTo>
                  <a:pt x="16205" y="6040"/>
                  <a:pt x="12632" y="3762"/>
                  <a:pt x="10945" y="384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>
            <p:ph type="title"/>
          </p:nvPr>
        </p:nvSpPr>
        <p:spPr>
          <a:xfrm>
            <a:off x="311700" y="262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Current mirror based BGR with Startup</a:t>
            </a:r>
            <a:endParaRPr/>
          </a:p>
        </p:txBody>
      </p:sp>
      <p:sp>
        <p:nvSpPr>
          <p:cNvPr id="153" name="Google Shape;153;p25"/>
          <p:cNvSpPr txBox="1"/>
          <p:nvPr/>
        </p:nvSpPr>
        <p:spPr>
          <a:xfrm>
            <a:off x="7227525" y="1606725"/>
            <a:ext cx="12009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Startup Circuit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54" name="Google Shape;15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2600" y="1128700"/>
            <a:ext cx="5544999" cy="30871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p25"/>
          <p:cNvCxnSpPr/>
          <p:nvPr/>
        </p:nvCxnSpPr>
        <p:spPr>
          <a:xfrm>
            <a:off x="6170550" y="1772475"/>
            <a:ext cx="982500" cy="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6" name="Google Shape;156;p25"/>
          <p:cNvSpPr/>
          <p:nvPr/>
        </p:nvSpPr>
        <p:spPr>
          <a:xfrm>
            <a:off x="4629950" y="1341775"/>
            <a:ext cx="1466135" cy="1838691"/>
          </a:xfrm>
          <a:custGeom>
            <a:rect b="b" l="l" r="r" t="t"/>
            <a:pathLst>
              <a:path extrusionOk="0" h="84928" w="77563">
                <a:moveTo>
                  <a:pt x="71132" y="3043"/>
                </a:moveTo>
                <a:cubicBezTo>
                  <a:pt x="68480" y="391"/>
                  <a:pt x="63930" y="767"/>
                  <a:pt x="60199" y="393"/>
                </a:cubicBezTo>
                <a:cubicBezTo>
                  <a:pt x="46569" y="-973"/>
                  <a:pt x="30460" y="2302"/>
                  <a:pt x="20774" y="11988"/>
                </a:cubicBezTo>
                <a:cubicBezTo>
                  <a:pt x="5780" y="26982"/>
                  <a:pt x="-9791" y="62514"/>
                  <a:pt x="7853" y="74274"/>
                </a:cubicBezTo>
                <a:cubicBezTo>
                  <a:pt x="16339" y="79930"/>
                  <a:pt x="26922" y="82037"/>
                  <a:pt x="37008" y="83550"/>
                </a:cubicBezTo>
                <a:cubicBezTo>
                  <a:pt x="46789" y="85017"/>
                  <a:pt x="58898" y="86571"/>
                  <a:pt x="66494" y="80237"/>
                </a:cubicBezTo>
                <a:cubicBezTo>
                  <a:pt x="79603" y="69305"/>
                  <a:pt x="77427" y="47279"/>
                  <a:pt x="77427" y="30210"/>
                </a:cubicBezTo>
                <a:cubicBezTo>
                  <a:pt x="77427" y="20222"/>
                  <a:pt x="78138" y="1718"/>
                  <a:pt x="68150" y="171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pic>
        <p:nvPicPr>
          <p:cNvPr id="157" name="Google Shape;15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77774" y="2070625"/>
            <a:ext cx="2778075" cy="7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Startup</a:t>
            </a:r>
            <a:endParaRPr/>
          </a:p>
        </p:txBody>
      </p:sp>
      <p:pic>
        <p:nvPicPr>
          <p:cNvPr id="163" name="Google Shape;16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54750"/>
            <a:ext cx="7255574" cy="337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Startup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963050"/>
            <a:ext cx="7238999" cy="33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295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we </a:t>
            </a:r>
            <a:r>
              <a:rPr lang="en"/>
              <a:t>prefer</a:t>
            </a:r>
            <a:r>
              <a:rPr lang="en"/>
              <a:t> Op-Amp based </a:t>
            </a:r>
            <a:r>
              <a:rPr lang="en"/>
              <a:t>BGR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 rotWithShape="1">
          <a:blip r:embed="rId3">
            <a:alphaModFix/>
          </a:blip>
          <a:srcRect b="0" l="0" r="0" t="8617"/>
          <a:stretch/>
        </p:blipFill>
        <p:spPr>
          <a:xfrm>
            <a:off x="440700" y="1066375"/>
            <a:ext cx="5923748" cy="33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8"/>
          <p:cNvSpPr txBox="1"/>
          <p:nvPr/>
        </p:nvSpPr>
        <p:spPr>
          <a:xfrm>
            <a:off x="6364450" y="1354700"/>
            <a:ext cx="2108400" cy="21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Here, Op-amp with enough gain will try to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=V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, which will make same current flow in R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 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 u="sng">
                <a:solidFill>
                  <a:schemeClr val="dk1"/>
                </a:solidFill>
              </a:rPr>
              <a:t>Sign of Op-Amp:</a:t>
            </a:r>
            <a:endParaRPr b="1" sz="1200" u="sng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Here Op-Amp is connected in negative feedback as Drain of M2 changes oppositely with Op-Amp output.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77" name="Google Shape;177;p28"/>
          <p:cNvCxnSpPr/>
          <p:nvPr/>
        </p:nvCxnSpPr>
        <p:spPr>
          <a:xfrm flipH="1" rot="10800000">
            <a:off x="2341100" y="2710000"/>
            <a:ext cx="4047900" cy="19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8" name="Google Shape;178;p28"/>
          <p:cNvSpPr/>
          <p:nvPr/>
        </p:nvSpPr>
        <p:spPr>
          <a:xfrm>
            <a:off x="2116904" y="2756883"/>
            <a:ext cx="224175" cy="226250"/>
          </a:xfrm>
          <a:custGeom>
            <a:rect b="b" l="l" r="r" t="t"/>
            <a:pathLst>
              <a:path extrusionOk="0" h="9050" w="8967">
                <a:moveTo>
                  <a:pt x="8968" y="5511"/>
                </a:moveTo>
                <a:cubicBezTo>
                  <a:pt x="8968" y="2345"/>
                  <a:pt x="2420" y="-1737"/>
                  <a:pt x="665" y="898"/>
                </a:cubicBezTo>
                <a:cubicBezTo>
                  <a:pt x="-846" y="3166"/>
                  <a:pt x="534" y="7522"/>
                  <a:pt x="2971" y="8741"/>
                </a:cubicBezTo>
                <a:cubicBezTo>
                  <a:pt x="5070" y="9791"/>
                  <a:pt x="8968" y="7397"/>
                  <a:pt x="8968" y="505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/>
          <p:nvPr>
            <p:ph type="title"/>
          </p:nvPr>
        </p:nvSpPr>
        <p:spPr>
          <a:xfrm>
            <a:off x="311700" y="136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Op-Amp based BGR</a:t>
            </a:r>
            <a:endParaRPr/>
          </a:p>
        </p:txBody>
      </p:sp>
      <p:sp>
        <p:nvSpPr>
          <p:cNvPr id="184" name="Google Shape;184;p29"/>
          <p:cNvSpPr txBox="1"/>
          <p:nvPr/>
        </p:nvSpPr>
        <p:spPr>
          <a:xfrm>
            <a:off x="5565375" y="2138925"/>
            <a:ext cx="2926500" cy="15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ibias is 40uA and VDD is 2.5V from the designed Op-Amp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3.628KΩ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97.302KΩ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85" name="Google Shape;185;p29"/>
          <p:cNvSpPr txBox="1"/>
          <p:nvPr/>
        </p:nvSpPr>
        <p:spPr>
          <a:xfrm>
            <a:off x="347875" y="894525"/>
            <a:ext cx="8009400" cy="6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input to the Op-Amp itself less than half of VDD, the ICMR</a:t>
            </a:r>
            <a:r>
              <a:rPr baseline="30000" lang="en" sz="1200">
                <a:solidFill>
                  <a:schemeClr val="dk1"/>
                </a:solidFill>
              </a:rPr>
              <a:t>-</a:t>
            </a:r>
            <a:r>
              <a:rPr lang="en" sz="1200">
                <a:solidFill>
                  <a:schemeClr val="dk1"/>
                </a:solidFill>
              </a:rPr>
              <a:t> of NMOS Op-Amp will not meet this specification, so we are going with PMOS Op-Amp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86" name="Google Shape;18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350" y="1573725"/>
            <a:ext cx="4675175" cy="31478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7" name="Google Shape;187;p29"/>
          <p:cNvCxnSpPr/>
          <p:nvPr/>
        </p:nvCxnSpPr>
        <p:spPr>
          <a:xfrm flipH="1" rot="10800000">
            <a:off x="996375" y="2378750"/>
            <a:ext cx="4748700" cy="116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8" name="Google Shape;188;p29"/>
          <p:cNvCxnSpPr/>
          <p:nvPr/>
        </p:nvCxnSpPr>
        <p:spPr>
          <a:xfrm flipH="1" rot="10800000">
            <a:off x="1534975" y="2387625"/>
            <a:ext cx="4174200" cy="152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89" name="Google Shape;189;p29"/>
          <p:cNvPicPr preferRelativeResize="0"/>
          <p:nvPr/>
        </p:nvPicPr>
        <p:blipFill rotWithShape="1">
          <a:blip r:embed="rId4">
            <a:alphaModFix/>
          </a:blip>
          <a:srcRect b="169759" l="-7150" r="3683" t="-137140"/>
          <a:stretch/>
        </p:blipFill>
        <p:spPr>
          <a:xfrm>
            <a:off x="5258650" y="1936275"/>
            <a:ext cx="3373199" cy="67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9"/>
          <p:cNvPicPr preferRelativeResize="0"/>
          <p:nvPr/>
        </p:nvPicPr>
        <p:blipFill rotWithShape="1">
          <a:blip r:embed="rId4">
            <a:alphaModFix/>
          </a:blip>
          <a:srcRect b="32619" l="0" r="0" t="0"/>
          <a:stretch/>
        </p:blipFill>
        <p:spPr>
          <a:xfrm>
            <a:off x="5709175" y="3895725"/>
            <a:ext cx="3075075" cy="67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9"/>
          <p:cNvSpPr txBox="1"/>
          <p:nvPr/>
        </p:nvSpPr>
        <p:spPr>
          <a:xfrm>
            <a:off x="5565375" y="3572625"/>
            <a:ext cx="3075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And the sizes of Mosfet’s are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0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(Op-Amp based BGR) </a:t>
            </a:r>
            <a:endParaRPr/>
          </a:p>
        </p:txBody>
      </p:sp>
      <p:sp>
        <p:nvSpPr>
          <p:cNvPr id="197" name="Google Shape;197;p30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1.201V in tt_27C_2.5V corner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98" name="Google Shape;19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075" y="965950"/>
            <a:ext cx="7236299" cy="3211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04" name="Google Shape;20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2"/>
          <p:cNvSpPr txBox="1"/>
          <p:nvPr>
            <p:ph type="title"/>
          </p:nvPr>
        </p:nvSpPr>
        <p:spPr>
          <a:xfrm>
            <a:off x="629475" y="128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</a:t>
            </a:r>
            <a:endParaRPr/>
          </a:p>
        </p:txBody>
      </p:sp>
      <p:pic>
        <p:nvPicPr>
          <p:cNvPr id="210" name="Google Shape;21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9475" y="4162275"/>
            <a:ext cx="4842024" cy="63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475" y="837325"/>
            <a:ext cx="7562025" cy="324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PSRR</a:t>
            </a:r>
            <a:endParaRPr/>
          </a:p>
        </p:txBody>
      </p:sp>
      <p:pic>
        <p:nvPicPr>
          <p:cNvPr id="217" name="Google Shape;21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4"/>
          <p:cNvSpPr txBox="1"/>
          <p:nvPr>
            <p:ph type="title"/>
          </p:nvPr>
        </p:nvSpPr>
        <p:spPr>
          <a:xfrm>
            <a:off x="452500" y="328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</a:t>
            </a:r>
            <a:endParaRPr/>
          </a:p>
        </p:txBody>
      </p:sp>
      <p:sp>
        <p:nvSpPr>
          <p:cNvPr id="223" name="Google Shape;223;p34"/>
          <p:cNvSpPr txBox="1"/>
          <p:nvPr/>
        </p:nvSpPr>
        <p:spPr>
          <a:xfrm>
            <a:off x="851800" y="4389775"/>
            <a:ext cx="6925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The PSRR at higher frequency around 4GHz is going to 9.46dB, we </a:t>
            </a:r>
            <a:r>
              <a:rPr lang="en" sz="1200"/>
              <a:t>want to reduce that.</a:t>
            </a:r>
            <a:endParaRPr sz="1200"/>
          </a:p>
        </p:txBody>
      </p:sp>
      <p:pic>
        <p:nvPicPr>
          <p:cNvPr id="224" name="Google Shape;22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425" y="991250"/>
            <a:ext cx="7236302" cy="3398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 txBox="1"/>
          <p:nvPr>
            <p:ph type="title"/>
          </p:nvPr>
        </p:nvSpPr>
        <p:spPr>
          <a:xfrm>
            <a:off x="311700" y="186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reduction at higher frequency</a:t>
            </a:r>
            <a:endParaRPr/>
          </a:p>
        </p:txBody>
      </p:sp>
      <p:sp>
        <p:nvSpPr>
          <p:cNvPr id="230" name="Google Shape;230;p35"/>
          <p:cNvSpPr txBox="1"/>
          <p:nvPr/>
        </p:nvSpPr>
        <p:spPr>
          <a:xfrm>
            <a:off x="6192575" y="925450"/>
            <a:ext cx="2837700" cy="13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We are introducing an LPF at the VREF, so high frequency noise will get attenuated,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R11 =</a:t>
            </a:r>
            <a:r>
              <a:rPr lang="en" sz="1200">
                <a:solidFill>
                  <a:schemeClr val="dk1"/>
                </a:solidFill>
              </a:rPr>
              <a:t>1 KHz</a:t>
            </a:r>
            <a:r>
              <a:rPr lang="en" sz="1200">
                <a:solidFill>
                  <a:schemeClr val="dk1"/>
                </a:solidFill>
              </a:rPr>
              <a:t> and C0 = 20pF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31" name="Google Shape;23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75" y="925450"/>
            <a:ext cx="5533100" cy="364857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35"/>
          <p:cNvSpPr/>
          <p:nvPr/>
        </p:nvSpPr>
        <p:spPr>
          <a:xfrm>
            <a:off x="4907854" y="1675521"/>
            <a:ext cx="1225050" cy="1317950"/>
          </a:xfrm>
          <a:custGeom>
            <a:rect b="b" l="l" r="r" t="t"/>
            <a:pathLst>
              <a:path extrusionOk="0" h="52718" w="49002">
                <a:moveTo>
                  <a:pt x="15530" y="2636"/>
                </a:moveTo>
                <a:cubicBezTo>
                  <a:pt x="8674" y="2636"/>
                  <a:pt x="-3677" y="12508"/>
                  <a:pt x="1168" y="17358"/>
                </a:cubicBezTo>
                <a:cubicBezTo>
                  <a:pt x="7749" y="23945"/>
                  <a:pt x="22152" y="18526"/>
                  <a:pt x="27738" y="25975"/>
                </a:cubicBezTo>
                <a:cubicBezTo>
                  <a:pt x="32789" y="32710"/>
                  <a:pt x="29150" y="43656"/>
                  <a:pt x="34201" y="50391"/>
                </a:cubicBezTo>
                <a:cubicBezTo>
                  <a:pt x="36217" y="53079"/>
                  <a:pt x="41878" y="53484"/>
                  <a:pt x="44255" y="51109"/>
                </a:cubicBezTo>
                <a:cubicBezTo>
                  <a:pt x="49768" y="45601"/>
                  <a:pt x="48563" y="35922"/>
                  <a:pt x="48563" y="28129"/>
                </a:cubicBezTo>
                <a:cubicBezTo>
                  <a:pt x="48563" y="20410"/>
                  <a:pt x="50320" y="11327"/>
                  <a:pt x="45691" y="5150"/>
                </a:cubicBezTo>
                <a:cubicBezTo>
                  <a:pt x="38352" y="-4642"/>
                  <a:pt x="21304" y="2636"/>
                  <a:pt x="9067" y="2636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33" name="Google Shape;233;p35"/>
          <p:cNvCxnSpPr/>
          <p:nvPr/>
        </p:nvCxnSpPr>
        <p:spPr>
          <a:xfrm flipH="1" rot="10800000">
            <a:off x="6014225" y="1391225"/>
            <a:ext cx="412800" cy="3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6"/>
          <p:cNvSpPr txBox="1"/>
          <p:nvPr>
            <p:ph type="title"/>
          </p:nvPr>
        </p:nvSpPr>
        <p:spPr>
          <a:xfrm>
            <a:off x="359325" y="310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 in PSRR because of introduced LPF</a:t>
            </a:r>
            <a:endParaRPr/>
          </a:p>
        </p:txBody>
      </p:sp>
      <p:cxnSp>
        <p:nvCxnSpPr>
          <p:cNvPr id="239" name="Google Shape;239;p36"/>
          <p:cNvCxnSpPr/>
          <p:nvPr/>
        </p:nvCxnSpPr>
        <p:spPr>
          <a:xfrm flipH="1">
            <a:off x="5681825" y="2078925"/>
            <a:ext cx="405900" cy="2403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0" name="Google Shape;240;p36"/>
          <p:cNvSpPr txBox="1"/>
          <p:nvPr/>
        </p:nvSpPr>
        <p:spPr>
          <a:xfrm>
            <a:off x="1027250" y="4466400"/>
            <a:ext cx="7901700" cy="3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the PSRR at high frequency got reduced </a:t>
            </a:r>
            <a:r>
              <a:rPr lang="en" sz="1200">
                <a:solidFill>
                  <a:schemeClr val="dk1"/>
                </a:solidFill>
              </a:rPr>
              <a:t>a lot</a:t>
            </a:r>
            <a:r>
              <a:rPr lang="en" sz="1200">
                <a:solidFill>
                  <a:schemeClr val="dk1"/>
                </a:solidFill>
              </a:rPr>
              <a:t> from 9.46dB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241" name="Google Shape;241;p36"/>
          <p:cNvCxnSpPr/>
          <p:nvPr/>
        </p:nvCxnSpPr>
        <p:spPr>
          <a:xfrm flipH="1">
            <a:off x="5951350" y="2064575"/>
            <a:ext cx="9000" cy="2334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42" name="Google Shape;2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994275"/>
            <a:ext cx="7222248" cy="3360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311700" y="362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- PVT Results after introducing LPF at the output</a:t>
            </a:r>
            <a:endParaRPr/>
          </a:p>
        </p:txBody>
      </p:sp>
      <p:pic>
        <p:nvPicPr>
          <p:cNvPr id="248" name="Google Shape;24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850" y="1264300"/>
            <a:ext cx="7236299" cy="3406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8"/>
          <p:cNvSpPr txBox="1"/>
          <p:nvPr>
            <p:ph type="title"/>
          </p:nvPr>
        </p:nvSpPr>
        <p:spPr>
          <a:xfrm>
            <a:off x="469075" y="370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Schematic</a:t>
            </a:r>
            <a:endParaRPr/>
          </a:p>
        </p:txBody>
      </p:sp>
      <p:pic>
        <p:nvPicPr>
          <p:cNvPr id="254" name="Google Shape;25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7225" y="943175"/>
            <a:ext cx="5909575" cy="37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Results</a:t>
            </a:r>
            <a:endParaRPr/>
          </a:p>
        </p:txBody>
      </p:sp>
      <p:sp>
        <p:nvSpPr>
          <p:cNvPr id="260" name="Google Shape;260;p39"/>
          <p:cNvSpPr txBox="1"/>
          <p:nvPr/>
        </p:nvSpPr>
        <p:spPr>
          <a:xfrm>
            <a:off x="980275" y="4313825"/>
            <a:ext cx="61257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VDD was went to 2.5V from 0V with in the </a:t>
            </a:r>
            <a:r>
              <a:rPr lang="en" sz="1200">
                <a:solidFill>
                  <a:schemeClr val="dk1"/>
                </a:solidFill>
              </a:rPr>
              <a:t>span</a:t>
            </a:r>
            <a:r>
              <a:rPr lang="en" sz="1200">
                <a:solidFill>
                  <a:schemeClr val="dk1"/>
                </a:solidFill>
              </a:rPr>
              <a:t> of 1µs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61" name="Google Shape;26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0275" y="914050"/>
            <a:ext cx="7196275" cy="3351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0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and bias Circuit for Op-Amp based BGR </a:t>
            </a:r>
            <a:endParaRPr/>
          </a:p>
        </p:txBody>
      </p:sp>
      <p:pic>
        <p:nvPicPr>
          <p:cNvPr id="267" name="Google Shape;26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2434" y="1159550"/>
            <a:ext cx="7079140" cy="3536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Results after Bias and startup Circuit</a:t>
            </a:r>
            <a:endParaRPr/>
          </a:p>
        </p:txBody>
      </p:sp>
      <p:pic>
        <p:nvPicPr>
          <p:cNvPr id="273" name="Google Shape;27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1203950"/>
            <a:ext cx="7238999" cy="338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Monte Carlo</a:t>
            </a:r>
            <a:endParaRPr/>
          </a:p>
        </p:txBody>
      </p:sp>
      <p:pic>
        <p:nvPicPr>
          <p:cNvPr id="279" name="Google Shape;27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0350" y="1205150"/>
            <a:ext cx="6023300" cy="338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3"/>
          <p:cNvSpPr txBox="1"/>
          <p:nvPr>
            <p:ph type="title"/>
          </p:nvPr>
        </p:nvSpPr>
        <p:spPr>
          <a:xfrm>
            <a:off x="311700" y="21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 - Mismatch</a:t>
            </a:r>
            <a:endParaRPr/>
          </a:p>
        </p:txBody>
      </p:sp>
      <p:pic>
        <p:nvPicPr>
          <p:cNvPr id="285" name="Google Shape;285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0075" y="1082475"/>
            <a:ext cx="7263848" cy="3376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4"/>
          <p:cNvSpPr txBox="1"/>
          <p:nvPr/>
        </p:nvSpPr>
        <p:spPr>
          <a:xfrm>
            <a:off x="1748850" y="2158800"/>
            <a:ext cx="5646300" cy="82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chemeClr val="dk1"/>
                </a:solidFill>
              </a:rPr>
              <a:t>Thank</a:t>
            </a:r>
            <a:r>
              <a:rPr b="1" lang="en" sz="3800">
                <a:solidFill>
                  <a:schemeClr val="dk1"/>
                </a:solidFill>
              </a:rPr>
              <a:t> you</a:t>
            </a:r>
            <a:endParaRPr b="1" sz="3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